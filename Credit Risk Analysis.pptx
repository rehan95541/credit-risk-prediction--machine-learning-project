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nter Bold" charset="1" panose="02000503000000020004"/>
      <p:regular r:id="rId11"/>
    </p:embeddedFont>
    <p:embeddedFont>
      <p:font typeface="Inter Semi-Bold" charset="1" panose="02000503000000020004"/>
      <p:regular r:id="rId12"/>
    </p:embeddedFont>
    <p:embeddedFont>
      <p:font typeface="Inter Medium" charset="1" panose="02000503000000020004"/>
      <p:regular r:id="rId13"/>
    </p:embeddedFont>
    <p:embeddedFont>
      <p:font typeface="Inter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16" Target="../media/image48.png" Type="http://schemas.openxmlformats.org/officeDocument/2006/relationships/image"/><Relationship Id="rId17" Target="../media/image49.png" Type="http://schemas.openxmlformats.org/officeDocument/2006/relationships/image"/><Relationship Id="rId18" Target="../media/image50.png" Type="http://schemas.openxmlformats.org/officeDocument/2006/relationships/image"/><Relationship Id="rId19" Target="../media/image51.png" Type="http://schemas.openxmlformats.org/officeDocument/2006/relationships/image"/><Relationship Id="rId2" Target="../media/image34.png" Type="http://schemas.openxmlformats.org/officeDocument/2006/relationships/image"/><Relationship Id="rId20" Target="../media/image52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6034" y="1103306"/>
            <a:ext cx="9837225" cy="197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4"/>
              </a:lnSpc>
            </a:pPr>
            <a:r>
              <a:rPr lang="en-US" sz="7124" spc="-285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Credit Risk Prediction &amp; </a:t>
            </a:r>
            <a:r>
              <a:rPr lang="en-US" sz="7124" spc="-285" b="true">
                <a:solidFill>
                  <a:srgbClr val="34C2BF"/>
                </a:solidFill>
                <a:latin typeface="Inter Bold"/>
                <a:ea typeface="Inter Bold"/>
                <a:cs typeface="Inter Bold"/>
                <a:sym typeface="Inter Bold"/>
              </a:rPr>
              <a:t>Default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3640352"/>
            <a:ext cx="4582938" cy="2798589"/>
          </a:xfrm>
          <a:custGeom>
            <a:avLst/>
            <a:gdLst/>
            <a:ahLst/>
            <a:cxnLst/>
            <a:rect r="r" b="b" t="t" l="l"/>
            <a:pathLst>
              <a:path h="2798589" w="4582938">
                <a:moveTo>
                  <a:pt x="0" y="0"/>
                </a:moveTo>
                <a:lnTo>
                  <a:pt x="4582938" y="0"/>
                </a:lnTo>
                <a:lnTo>
                  <a:pt x="458293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1757" y="4618997"/>
            <a:ext cx="2315644" cy="62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b="true" sz="3291" spc="-98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APPLICANT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217330" y="4711687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11110" y="3640352"/>
            <a:ext cx="5020450" cy="2798589"/>
          </a:xfrm>
          <a:custGeom>
            <a:avLst/>
            <a:gdLst/>
            <a:ahLst/>
            <a:cxnLst/>
            <a:rect r="r" b="b" t="t" l="l"/>
            <a:pathLst>
              <a:path h="2798589" w="5020450">
                <a:moveTo>
                  <a:pt x="0" y="0"/>
                </a:moveTo>
                <a:lnTo>
                  <a:pt x="5020450" y="0"/>
                </a:lnTo>
                <a:lnTo>
                  <a:pt x="502045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43711" y="4144944"/>
            <a:ext cx="3331744" cy="157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</a:pPr>
            <a:r>
              <a:rPr lang="en-US" b="true" sz="2647" spc="-78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SVM</a:t>
            </a:r>
          </a:p>
          <a:p>
            <a:pPr algn="ctr">
              <a:lnSpc>
                <a:spcPts val="4235"/>
              </a:lnSpc>
            </a:pPr>
            <a:r>
              <a:rPr lang="en-US" b="true" sz="2647" spc="-78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Binary Classification</a:t>
            </a:r>
          </a:p>
          <a:p>
            <a:pPr algn="ctr">
              <a:lnSpc>
                <a:spcPts val="4235"/>
              </a:lnSpc>
            </a:pPr>
            <a:r>
              <a:rPr lang="en-US" b="true" sz="2647" spc="-78">
                <a:solidFill>
                  <a:srgbClr val="34C2BF"/>
                </a:solidFill>
                <a:latin typeface="Inter Bold"/>
                <a:ea typeface="Inter Bold"/>
                <a:cs typeface="Inter Bold"/>
                <a:sym typeface="Inter Bold"/>
              </a:rPr>
              <a:t>Good (0) or Default (1)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20622" y="4711687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84708" y="3640352"/>
            <a:ext cx="5020450" cy="2798589"/>
          </a:xfrm>
          <a:custGeom>
            <a:avLst/>
            <a:gdLst/>
            <a:ahLst/>
            <a:cxnLst/>
            <a:rect r="r" b="b" t="t" l="l"/>
            <a:pathLst>
              <a:path h="2798589" w="5020450">
                <a:moveTo>
                  <a:pt x="0" y="0"/>
                </a:moveTo>
                <a:lnTo>
                  <a:pt x="5020450" y="0"/>
                </a:lnTo>
                <a:lnTo>
                  <a:pt x="502045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861448" y="4181263"/>
            <a:ext cx="3705425" cy="162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b="true" sz="2731" spc="-81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HUMAN REVIEW</a:t>
            </a:r>
          </a:p>
          <a:p>
            <a:pPr algn="ctr">
              <a:lnSpc>
                <a:spcPts val="4368"/>
              </a:lnSpc>
            </a:pPr>
            <a:r>
              <a:rPr lang="en-US" b="true" sz="2731" spc="-81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Flags support informed decision making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7642" y="6787154"/>
            <a:ext cx="8676411" cy="210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2"/>
              </a:lnSpc>
            </a:pPr>
            <a:r>
              <a:rPr lang="en-US" sz="3577" spc="-106" b="true">
                <a:solidFill>
                  <a:srgbClr val="34C2BF"/>
                </a:solidFill>
                <a:latin typeface="Inter Bold"/>
                <a:ea typeface="Inter Bold"/>
                <a:cs typeface="Inter Bold"/>
                <a:sym typeface="Inter Bold"/>
              </a:rPr>
              <a:t>Objective: </a:t>
            </a:r>
            <a:r>
              <a:rPr lang="en-US" sz="3577" spc="-106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predict Good (0) or Default (1)</a:t>
            </a:r>
          </a:p>
          <a:p>
            <a:pPr algn="l">
              <a:lnSpc>
                <a:spcPts val="5722"/>
              </a:lnSpc>
            </a:pPr>
            <a:r>
              <a:rPr lang="en-US" sz="3577" spc="-106" b="true">
                <a:solidFill>
                  <a:srgbClr val="34C2BF"/>
                </a:solidFill>
                <a:latin typeface="Inter Bold"/>
                <a:ea typeface="Inter Bold"/>
                <a:cs typeface="Inter Bold"/>
                <a:sym typeface="Inter Bold"/>
              </a:rPr>
              <a:t>Decision support </a:t>
            </a:r>
            <a:r>
              <a:rPr lang="en-US" sz="3577" spc="-106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for human review</a:t>
            </a:r>
          </a:p>
          <a:p>
            <a:pPr algn="l">
              <a:lnSpc>
                <a:spcPts val="5722"/>
              </a:lnSpc>
            </a:pPr>
            <a:r>
              <a:rPr lang="en-US" sz="3577" spc="-106" b="true">
                <a:solidFill>
                  <a:srgbClr val="34C2BF"/>
                </a:solidFill>
                <a:latin typeface="Inter Bold"/>
                <a:ea typeface="Inter Bold"/>
                <a:cs typeface="Inter Bold"/>
                <a:sym typeface="Inter Bold"/>
              </a:rPr>
              <a:t>No automatic </a:t>
            </a:r>
            <a:r>
              <a:rPr lang="en-US" sz="3577" spc="-106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loan rejection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8097" y="484489"/>
            <a:ext cx="8089531" cy="75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9"/>
              </a:lnSpc>
            </a:pPr>
            <a:r>
              <a:rPr lang="en-US" sz="5729" spc="-170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Dataset and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3029" y="1759604"/>
            <a:ext cx="5596330" cy="56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1,000</a:t>
            </a: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applicants • </a:t>
            </a: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23</a:t>
            </a: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columns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0604" y="2859045"/>
            <a:ext cx="6838799" cy="56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700</a:t>
            </a: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Good (70%) / </a:t>
            </a: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300</a:t>
            </a: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Default (30%)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9839" y="3928365"/>
            <a:ext cx="7915291" cy="56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Stratified split: </a:t>
            </a: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800</a:t>
            </a: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train / </a:t>
            </a: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200</a:t>
            </a: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held-out 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131" y="4931711"/>
            <a:ext cx="6686098" cy="1079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spc="-88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Remove observation_id and telephone; durations to months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4405" y="6413404"/>
            <a:ext cx="6458717" cy="56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spc="-94" b="true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Pipeline: </a:t>
            </a:r>
            <a:r>
              <a:rPr lang="en-US" sz="3168" spc="-9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impute → encode → scale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7280704"/>
            <a:ext cx="7634584" cy="2372241"/>
          </a:xfrm>
          <a:custGeom>
            <a:avLst/>
            <a:gdLst/>
            <a:ahLst/>
            <a:cxnLst/>
            <a:rect r="r" b="b" t="t" l="l"/>
            <a:pathLst>
              <a:path h="2372241" w="7634584">
                <a:moveTo>
                  <a:pt x="0" y="0"/>
                </a:moveTo>
                <a:lnTo>
                  <a:pt x="7634584" y="0"/>
                </a:lnTo>
                <a:lnTo>
                  <a:pt x="7634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1152" y="7783411"/>
            <a:ext cx="6086953" cy="118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1"/>
              </a:lnSpc>
            </a:pPr>
            <a:r>
              <a:rPr lang="en-US" b="true" sz="3234" spc="-96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All </a:t>
            </a:r>
            <a:r>
              <a:rPr lang="en-US" b="true" sz="3234" spc="-96">
                <a:solidFill>
                  <a:srgbClr val="F0F0F0"/>
                </a:solidFill>
                <a:latin typeface="Inter Bold"/>
                <a:ea typeface="Inter Bold"/>
                <a:cs typeface="Inter Bold"/>
                <a:sym typeface="Inter Bold"/>
              </a:rPr>
              <a:t>310</a:t>
            </a:r>
            <a:r>
              <a:rPr lang="en-US" b="true" sz="3234" spc="-96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 missing personal_status entries belong to female records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706488" y="1497682"/>
            <a:ext cx="229694" cy="8155262"/>
          </a:xfrm>
          <a:custGeom>
            <a:avLst/>
            <a:gdLst/>
            <a:ahLst/>
            <a:cxnLst/>
            <a:rect r="r" b="b" t="t" l="l"/>
            <a:pathLst>
              <a:path h="8155262" w="229694">
                <a:moveTo>
                  <a:pt x="0" y="0"/>
                </a:moveTo>
                <a:lnTo>
                  <a:pt x="229694" y="0"/>
                </a:lnTo>
                <a:lnTo>
                  <a:pt x="229694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31572" y="1441529"/>
            <a:ext cx="2482673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22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CLASS BALANCE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570574" y="1924030"/>
            <a:ext cx="5457962" cy="1508614"/>
          </a:xfrm>
          <a:custGeom>
            <a:avLst/>
            <a:gdLst/>
            <a:ahLst/>
            <a:cxnLst/>
            <a:rect r="r" b="b" t="t" l="l"/>
            <a:pathLst>
              <a:path h="1508614" w="5457962">
                <a:moveTo>
                  <a:pt x="0" y="0"/>
                </a:moveTo>
                <a:lnTo>
                  <a:pt x="5457962" y="0"/>
                </a:lnTo>
                <a:lnTo>
                  <a:pt x="5457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355455" y="2386200"/>
            <a:ext cx="1734646" cy="82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6287" spc="-18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46904" y="3429560"/>
            <a:ext cx="139869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7"/>
              </a:lnSpc>
            </a:pPr>
            <a:r>
              <a:rPr lang="en-US" b="true" sz="2311" spc="-22">
                <a:solidFill>
                  <a:srgbClr val="3CC8B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700 Good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798842" y="1924030"/>
            <a:ext cx="2625072" cy="1508614"/>
          </a:xfrm>
          <a:custGeom>
            <a:avLst/>
            <a:gdLst/>
            <a:ahLst/>
            <a:cxnLst/>
            <a:rect r="r" b="b" t="t" l="l"/>
            <a:pathLst>
              <a:path h="1508614" w="2625072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245122" y="2386200"/>
            <a:ext cx="1786289" cy="82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6287" spc="-18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35611" y="3429560"/>
            <a:ext cx="1680809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7"/>
              </a:lnSpc>
            </a:pPr>
            <a:r>
              <a:rPr lang="en-US" b="true" sz="2311" spc="-22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300 Default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51818" y="4066699"/>
            <a:ext cx="8290852" cy="229572"/>
          </a:xfrm>
          <a:custGeom>
            <a:avLst/>
            <a:gdLst/>
            <a:ahLst/>
            <a:cxnLst/>
            <a:rect r="r" b="b" t="t" l="l"/>
            <a:pathLst>
              <a:path h="229572" w="8290852">
                <a:moveTo>
                  <a:pt x="0" y="0"/>
                </a:moveTo>
                <a:lnTo>
                  <a:pt x="8290852" y="0"/>
                </a:lnTo>
                <a:lnTo>
                  <a:pt x="829085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1818" y="4919394"/>
            <a:ext cx="8290852" cy="3662216"/>
          </a:xfrm>
          <a:custGeom>
            <a:avLst/>
            <a:gdLst/>
            <a:ahLst/>
            <a:cxnLst/>
            <a:rect r="r" b="b" t="t" l="l"/>
            <a:pathLst>
              <a:path h="3662216" w="8290852">
                <a:moveTo>
                  <a:pt x="0" y="0"/>
                </a:moveTo>
                <a:lnTo>
                  <a:pt x="8290852" y="0"/>
                </a:lnTo>
                <a:lnTo>
                  <a:pt x="8290852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01895" y="5061443"/>
            <a:ext cx="1537888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telephone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67297" y="5061443"/>
            <a:ext cx="614068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596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0303" y="5618694"/>
            <a:ext cx="2697026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checking balance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2920" y="6191006"/>
            <a:ext cx="2435295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personal_status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67860" y="6191006"/>
            <a:ext cx="557719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310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92482" y="6748257"/>
            <a:ext cx="2479157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savings balance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91427" y="7320569"/>
            <a:ext cx="2584649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residencehistory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86871" y="7892881"/>
            <a:ext cx="3040239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employment_length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49721" y="7892881"/>
            <a:ext cx="408365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62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351818" y="8570678"/>
            <a:ext cx="8290852" cy="1289974"/>
          </a:xfrm>
          <a:custGeom>
            <a:avLst/>
            <a:gdLst/>
            <a:ahLst/>
            <a:cxnLst/>
            <a:rect r="r" b="b" t="t" l="l"/>
            <a:pathLst>
              <a:path h="1289974" w="8290852">
                <a:moveTo>
                  <a:pt x="0" y="0"/>
                </a:moveTo>
                <a:lnTo>
                  <a:pt x="8290852" y="0"/>
                </a:lnTo>
                <a:lnTo>
                  <a:pt x="8290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966930" y="8739248"/>
            <a:ext cx="6769477" cy="85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b="true" sz="2654" spc="-25">
                <a:solidFill>
                  <a:srgbClr val="F0F0F0"/>
                </a:solidFill>
                <a:latin typeface="Inter Medium"/>
                <a:ea typeface="Inter Medium"/>
                <a:cs typeface="Inter Medium"/>
                <a:sym typeface="Inter Medium"/>
              </a:rPr>
              <a:t>Missing values imputed and features encoded and scaled within model pipeline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95961" y="4378393"/>
            <a:ext cx="3553896" cy="4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22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 DATA (COUNT)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067127" y="5618694"/>
            <a:ext cx="631036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394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67945" y="6748257"/>
            <a:ext cx="549235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183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067860" y="7320569"/>
            <a:ext cx="557719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24" b="true">
                <a:solidFill>
                  <a:srgbClr val="3CC8BD"/>
                </a:solidFill>
                <a:latin typeface="Inter Bold"/>
                <a:ea typeface="Inter Bold"/>
                <a:cs typeface="Inter Bold"/>
                <a:sym typeface="Inter Bold"/>
              </a:rPr>
              <a:t>130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257" y="409375"/>
            <a:ext cx="7252439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6"/>
              </a:lnSpc>
            </a:pPr>
            <a:r>
              <a:rPr lang="en-US" sz="5554" spc="-222" b="true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Findings and Modeling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3033" y="1508817"/>
            <a:ext cx="5274873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true">
                <a:solidFill>
                  <a:srgbClr val="38AD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TRAINING CROSS-VALIDATION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3515" y="2583672"/>
            <a:ext cx="3226637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82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Training Default rate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866" y="3045023"/>
            <a:ext cx="2091560" cy="11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4" spc="-294" b="true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30%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4285339"/>
            <a:ext cx="6759560" cy="863627"/>
          </a:xfrm>
          <a:custGeom>
            <a:avLst/>
            <a:gdLst/>
            <a:ahLst/>
            <a:cxnLst/>
            <a:rect r="r" b="b" t="t" l="l"/>
            <a:pathLst>
              <a:path h="863627" w="6759560">
                <a:moveTo>
                  <a:pt x="0" y="0"/>
                </a:moveTo>
                <a:lnTo>
                  <a:pt x="6759560" y="0"/>
                </a:lnTo>
                <a:lnTo>
                  <a:pt x="6759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68234" y="4536046"/>
            <a:ext cx="2727501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MEDIAN COMPARISON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4919394"/>
            <a:ext cx="6759560" cy="2372241"/>
          </a:xfrm>
          <a:custGeom>
            <a:avLst/>
            <a:gdLst/>
            <a:ahLst/>
            <a:cxnLst/>
            <a:rect r="r" b="b" t="t" l="l"/>
            <a:pathLst>
              <a:path h="2372241" w="6759560">
                <a:moveTo>
                  <a:pt x="0" y="0"/>
                </a:moveTo>
                <a:lnTo>
                  <a:pt x="6759560" y="0"/>
                </a:lnTo>
                <a:lnTo>
                  <a:pt x="6759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9359" y="5866557"/>
            <a:ext cx="278606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65">
                <a:solidFill>
                  <a:srgbClr val="FFFFFF">
                    <a:alpha val="9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Median loan amount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359" y="6619599"/>
            <a:ext cx="278606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65">
                <a:solidFill>
                  <a:srgbClr val="FFFFFF">
                    <a:alpha val="9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Median duration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12627" y="5824122"/>
            <a:ext cx="1129412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71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2,242.5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18577" y="6562103"/>
            <a:ext cx="317512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71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8180" y="5098454"/>
            <a:ext cx="1473398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65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Default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11245" y="5824122"/>
            <a:ext cx="1097799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71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2,467.5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4280" y="7632047"/>
            <a:ext cx="6507948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Model performance compared using stratified 5-fold CV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9421" y="8279485"/>
            <a:ext cx="3993873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Accuracy alone can be misleading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845" y="8881919"/>
            <a:ext cx="3551393" cy="3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60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Associations are not causation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393952" y="2350377"/>
            <a:ext cx="229694" cy="7083928"/>
          </a:xfrm>
          <a:custGeom>
            <a:avLst/>
            <a:gdLst/>
            <a:ahLst/>
            <a:cxnLst/>
            <a:rect r="r" b="b" t="t" l="l"/>
            <a:pathLst>
              <a:path h="7083928" w="229694">
                <a:moveTo>
                  <a:pt x="0" y="0"/>
                </a:moveTo>
                <a:lnTo>
                  <a:pt x="229694" y="0"/>
                </a:lnTo>
                <a:lnTo>
                  <a:pt x="229694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17308" y="2493307"/>
            <a:ext cx="3188691" cy="36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b="true" sz="2443" spc="-72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MODELS EVALUATED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612708" y="2995365"/>
            <a:ext cx="2187560" cy="5148966"/>
          </a:xfrm>
          <a:custGeom>
            <a:avLst/>
            <a:gdLst/>
            <a:ahLst/>
            <a:cxnLst/>
            <a:rect r="r" b="b" t="t" l="l"/>
            <a:pathLst>
              <a:path h="5148966" w="2187560">
                <a:moveTo>
                  <a:pt x="0" y="0"/>
                </a:moveTo>
                <a:lnTo>
                  <a:pt x="2187560" y="0"/>
                </a:lnTo>
                <a:lnTo>
                  <a:pt x="2187560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29562" y="4214711"/>
            <a:ext cx="1553766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MAJORITY</a:t>
            </a:r>
          </a:p>
          <a:p>
            <a:pPr algn="ctr">
              <a:lnSpc>
                <a:spcPts val="3156"/>
              </a:lnSpc>
            </a:pPr>
            <a:r>
              <a:rPr lang="en-US" b="true" sz="2254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BASELINE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29562" y="5433118"/>
            <a:ext cx="1553766" cy="83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b="true" sz="2321" spc="-69">
                <a:solidFill>
                  <a:srgbClr val="38AD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70%</a:t>
            </a:r>
          </a:p>
          <a:p>
            <a:pPr algn="ctr">
              <a:lnSpc>
                <a:spcPts val="3482"/>
              </a:lnSpc>
            </a:pPr>
            <a:r>
              <a:rPr lang="en-US" b="true" sz="2321" spc="-69">
                <a:solidFill>
                  <a:srgbClr val="38AD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3605" y="6579232"/>
            <a:ext cx="1294605" cy="81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1810" spc="-53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Zero Default recall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570574" y="2995365"/>
            <a:ext cx="2187560" cy="5148966"/>
          </a:xfrm>
          <a:custGeom>
            <a:avLst/>
            <a:gdLst/>
            <a:ahLst/>
            <a:cxnLst/>
            <a:rect r="r" b="b" t="t" l="l"/>
            <a:pathLst>
              <a:path h="5148966" w="2187560">
                <a:moveTo>
                  <a:pt x="0" y="0"/>
                </a:moveTo>
                <a:lnTo>
                  <a:pt x="2187560" y="0"/>
                </a:lnTo>
                <a:lnTo>
                  <a:pt x="2187560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560963" y="3381711"/>
            <a:ext cx="302360" cy="6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3893" spc="-115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5164" y="4241242"/>
            <a:ext cx="1687711" cy="73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b="true" sz="2188" spc="-65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LOGISTIC</a:t>
            </a:r>
          </a:p>
          <a:p>
            <a:pPr algn="ctr">
              <a:lnSpc>
                <a:spcPts val="3063"/>
              </a:lnSpc>
            </a:pPr>
            <a:r>
              <a:rPr lang="en-US" b="true" sz="2188" spc="-65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REGRESSION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68013" y="5411420"/>
            <a:ext cx="1409499" cy="17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1"/>
              </a:lnSpc>
            </a:pPr>
            <a:r>
              <a:rPr lang="en-US" sz="1916" spc="-5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Linear model</a:t>
            </a:r>
          </a:p>
          <a:p>
            <a:pPr algn="ctr">
              <a:lnSpc>
                <a:spcPts val="3641"/>
              </a:lnSpc>
            </a:pPr>
            <a:r>
              <a:rPr lang="en-US" sz="1916" spc="-5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interpretable</a:t>
            </a:r>
          </a:p>
          <a:p>
            <a:pPr algn="ctr">
              <a:lnSpc>
                <a:spcPts val="3641"/>
              </a:lnSpc>
            </a:pPr>
            <a:r>
              <a:rPr lang="en-US" sz="1916" spc="-5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baseline performance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747196" y="2995365"/>
            <a:ext cx="1968804" cy="5148966"/>
          </a:xfrm>
          <a:custGeom>
            <a:avLst/>
            <a:gdLst/>
            <a:ahLst/>
            <a:cxnLst/>
            <a:rect r="r" b="b" t="t" l="l"/>
            <a:pathLst>
              <a:path h="5148966" w="1968804">
                <a:moveTo>
                  <a:pt x="0" y="0"/>
                </a:moveTo>
                <a:lnTo>
                  <a:pt x="1968804" y="0"/>
                </a:lnTo>
                <a:lnTo>
                  <a:pt x="1968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001500" y="4214711"/>
            <a:ext cx="1473398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DECISION</a:t>
            </a:r>
          </a:p>
          <a:p>
            <a:pPr algn="ctr">
              <a:lnSpc>
                <a:spcPts val="3156"/>
              </a:lnSpc>
            </a:pPr>
            <a:r>
              <a:rPr lang="en-US" b="true" sz="2254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TREE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17194" y="5411421"/>
            <a:ext cx="1412542" cy="17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1"/>
              </a:lnSpc>
            </a:pPr>
            <a:r>
              <a:rPr lang="en-US" sz="1916" spc="-5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Captures non-linear patterns with simple rules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716000" y="2995365"/>
            <a:ext cx="1968804" cy="5148966"/>
          </a:xfrm>
          <a:custGeom>
            <a:avLst/>
            <a:gdLst/>
            <a:ahLst/>
            <a:cxnLst/>
            <a:rect r="r" b="b" t="t" l="l"/>
            <a:pathLst>
              <a:path h="5148966" w="1968804">
                <a:moveTo>
                  <a:pt x="0" y="0"/>
                </a:moveTo>
                <a:lnTo>
                  <a:pt x="1968804" y="0"/>
                </a:lnTo>
                <a:lnTo>
                  <a:pt x="1968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930312" y="4214711"/>
            <a:ext cx="1553766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RANDOM</a:t>
            </a:r>
          </a:p>
          <a:p>
            <a:pPr algn="ctr">
              <a:lnSpc>
                <a:spcPts val="3156"/>
              </a:lnSpc>
            </a:pPr>
            <a:r>
              <a:rPr lang="en-US" b="true" sz="2254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FOREST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47184" y="5411422"/>
            <a:ext cx="1541455" cy="17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1"/>
              </a:lnSpc>
            </a:pPr>
            <a:r>
              <a:rPr lang="en-US" sz="1916" spc="-5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Ensemble of trees for more robust and stable results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673866" y="2995365"/>
            <a:ext cx="2187560" cy="5148966"/>
          </a:xfrm>
          <a:custGeom>
            <a:avLst/>
            <a:gdLst/>
            <a:ahLst/>
            <a:cxnLst/>
            <a:rect r="r" b="b" t="t" l="l"/>
            <a:pathLst>
              <a:path h="5148966" w="2187560">
                <a:moveTo>
                  <a:pt x="0" y="0"/>
                </a:moveTo>
                <a:lnTo>
                  <a:pt x="2187560" y="0"/>
                </a:lnTo>
                <a:lnTo>
                  <a:pt x="2187560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604070" y="3381711"/>
            <a:ext cx="299620" cy="6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3893" spc="-115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966281" y="5430608"/>
            <a:ext cx="1607344" cy="212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b="true" sz="2321" spc="-69">
                <a:solidFill>
                  <a:srgbClr val="38ADB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Selected by training stratified 5-fold CV accuracy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7612708" y="8133399"/>
            <a:ext cx="10248718" cy="1300906"/>
          </a:xfrm>
          <a:custGeom>
            <a:avLst/>
            <a:gdLst/>
            <a:ahLst/>
            <a:cxnLst/>
            <a:rect r="r" b="b" t="t" l="l"/>
            <a:pathLst>
              <a:path h="1300906" w="10248718">
                <a:moveTo>
                  <a:pt x="0" y="0"/>
                </a:moveTo>
                <a:lnTo>
                  <a:pt x="10248718" y="0"/>
                </a:lnTo>
                <a:lnTo>
                  <a:pt x="10248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873927" y="8520012"/>
            <a:ext cx="7594062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71">
                <a:solidFill>
                  <a:srgbClr val="FFFFFF">
                    <a:alpha val="94902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SVM selected by training stratified 5-fold CV accuracy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89734" y="5098454"/>
            <a:ext cx="1607344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65">
                <a:solidFill>
                  <a:srgbClr val="38ADB2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Good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527900" y="3381711"/>
            <a:ext cx="327515" cy="6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3893" spc="-115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966281" y="4209865"/>
            <a:ext cx="1607344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65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SVM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67927" y="3381711"/>
            <a:ext cx="311077" cy="6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3893" spc="-115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968080" y="6562103"/>
            <a:ext cx="384130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71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90911" y="3381711"/>
            <a:ext cx="199994" cy="6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b="true" sz="3893" spc="-115">
                <a:solidFill>
                  <a:srgbClr val="38ADB2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12" y="223491"/>
            <a:ext cx="2122515" cy="129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6"/>
              </a:lnSpc>
            </a:pPr>
            <a:r>
              <a:rPr lang="en-US" b="true" sz="7264" spc="-180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SVM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0056" y="1939804"/>
            <a:ext cx="3288139" cy="57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b="true" sz="3234" spc="-80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HELD-OUT TEST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584" y="2501714"/>
            <a:ext cx="3835339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n200; positive Default(1)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214004"/>
            <a:ext cx="5895474" cy="218640"/>
          </a:xfrm>
          <a:custGeom>
            <a:avLst/>
            <a:gdLst/>
            <a:ahLst/>
            <a:cxnLst/>
            <a:rect r="r" b="b" t="t" l="l"/>
            <a:pathLst>
              <a:path h="218640" w="5895474">
                <a:moveTo>
                  <a:pt x="0" y="0"/>
                </a:moveTo>
                <a:lnTo>
                  <a:pt x="5895474" y="0"/>
                </a:lnTo>
                <a:lnTo>
                  <a:pt x="5895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8868" y="3421721"/>
            <a:ext cx="1406912" cy="63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b="true" sz="3537" spc="-88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75.0%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8726" y="3540912"/>
            <a:ext cx="1513291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553" y="3978972"/>
            <a:ext cx="1438467" cy="63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b="true" sz="3537" spc="-88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56.0%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7209" y="4083102"/>
            <a:ext cx="2665026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Default precision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884" y="4536223"/>
            <a:ext cx="1405334" cy="63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b="true" sz="3537" spc="-88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78.3%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4384" y="4640353"/>
            <a:ext cx="947569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Recall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5356674"/>
            <a:ext cx="5895474" cy="218640"/>
          </a:xfrm>
          <a:custGeom>
            <a:avLst/>
            <a:gdLst/>
            <a:ahLst/>
            <a:cxnLst/>
            <a:rect r="r" b="b" t="t" l="l"/>
            <a:pathLst>
              <a:path h="218640" w="5895474">
                <a:moveTo>
                  <a:pt x="0" y="0"/>
                </a:moveTo>
                <a:lnTo>
                  <a:pt x="5895474" y="0"/>
                </a:lnTo>
                <a:lnTo>
                  <a:pt x="5895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6912" y="5664490"/>
            <a:ext cx="2602590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Default F1 </a:t>
            </a:r>
            <a:r>
              <a:rPr lang="en-US" sz="2707" spc="-67" b="true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0.653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6043" y="6221741"/>
            <a:ext cx="2689457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707" spc="-67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ROC-AUC </a:t>
            </a:r>
            <a:r>
              <a:rPr lang="en-US" b="true" sz="2707" spc="-67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0.843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862" y="6733810"/>
            <a:ext cx="3907585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Average precision </a:t>
            </a:r>
            <a:r>
              <a:rPr lang="en-US" sz="2707" spc="-67" b="true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0.745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7280704"/>
            <a:ext cx="5895474" cy="437279"/>
          </a:xfrm>
          <a:custGeom>
            <a:avLst/>
            <a:gdLst/>
            <a:ahLst/>
            <a:cxnLst/>
            <a:rect r="r" b="b" t="t" l="l"/>
            <a:pathLst>
              <a:path h="437279" w="5895474">
                <a:moveTo>
                  <a:pt x="0" y="0"/>
                </a:moveTo>
                <a:lnTo>
                  <a:pt x="5895474" y="0"/>
                </a:lnTo>
                <a:lnTo>
                  <a:pt x="5895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37415" y="7638756"/>
            <a:ext cx="552216" cy="63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b="true" sz="3537" spc="-88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47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8599" y="7757947"/>
            <a:ext cx="2764274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defaults detected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8267" y="8196007"/>
            <a:ext cx="467017" cy="63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b="true" sz="3537" spc="-88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907" y="8315198"/>
            <a:ext cx="1133507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missed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564" y="8753258"/>
            <a:ext cx="537340" cy="63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b="true" sz="3537" spc="-88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37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821" y="8857389"/>
            <a:ext cx="2142137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Good flagged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748622" y="1705390"/>
            <a:ext cx="218756" cy="7947555"/>
          </a:xfrm>
          <a:custGeom>
            <a:avLst/>
            <a:gdLst/>
            <a:ahLst/>
            <a:cxnLst/>
            <a:rect r="r" b="b" t="t" l="l"/>
            <a:pathLst>
              <a:path h="7947555" w="218756">
                <a:moveTo>
                  <a:pt x="0" y="0"/>
                </a:moveTo>
                <a:lnTo>
                  <a:pt x="218756" y="0"/>
                </a:lnTo>
                <a:lnTo>
                  <a:pt x="218756" y="7947555"/>
                </a:lnTo>
                <a:lnTo>
                  <a:pt x="0" y="7947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183477" y="5778939"/>
            <a:ext cx="139757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59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Default(1)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789330" y="3421712"/>
            <a:ext cx="3718852" cy="1945894"/>
          </a:xfrm>
          <a:custGeom>
            <a:avLst/>
            <a:gdLst/>
            <a:ahLst/>
            <a:cxnLst/>
            <a:rect r="r" b="b" t="t" l="l"/>
            <a:pathLst>
              <a:path h="1945894" w="3718852">
                <a:moveTo>
                  <a:pt x="0" y="0"/>
                </a:moveTo>
                <a:lnTo>
                  <a:pt x="3718852" y="0"/>
                </a:lnTo>
                <a:lnTo>
                  <a:pt x="371885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226770" y="3999122"/>
            <a:ext cx="904915" cy="74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b="true" sz="4170" spc="-103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103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789330" y="5138034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402763" y="5625693"/>
            <a:ext cx="552929" cy="74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b="true" sz="4170" spc="-103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13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278488" y="3421712"/>
            <a:ext cx="3707914" cy="1945894"/>
          </a:xfrm>
          <a:custGeom>
            <a:avLst/>
            <a:gdLst/>
            <a:ahLst/>
            <a:cxnLst/>
            <a:rect r="r" b="b" t="t" l="l"/>
            <a:pathLst>
              <a:path h="1945894" w="3707914">
                <a:moveTo>
                  <a:pt x="0" y="0"/>
                </a:moveTo>
                <a:lnTo>
                  <a:pt x="3707914" y="0"/>
                </a:lnTo>
                <a:lnTo>
                  <a:pt x="370791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831120" y="3999122"/>
            <a:ext cx="636190" cy="74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b="true" sz="4170" spc="-103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37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278488" y="5138034"/>
            <a:ext cx="3707914" cy="1727254"/>
          </a:xfrm>
          <a:custGeom>
            <a:avLst/>
            <a:gdLst/>
            <a:ahLst/>
            <a:cxnLst/>
            <a:rect r="r" b="b" t="t" l="l"/>
            <a:pathLst>
              <a:path h="1727254" w="3707914">
                <a:moveTo>
                  <a:pt x="0" y="0"/>
                </a:moveTo>
                <a:lnTo>
                  <a:pt x="3707914" y="0"/>
                </a:lnTo>
                <a:lnTo>
                  <a:pt x="370791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822313" y="5625693"/>
            <a:ext cx="653803" cy="74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b="true" sz="4170" spc="-103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47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60655" y="1628185"/>
            <a:ext cx="5238903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67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CONFUSION MATRIX (COUNTS)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39865" y="2390250"/>
            <a:ext cx="170491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399" spc="-59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PREDICTED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78636" y="2932440"/>
            <a:ext cx="120358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59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Good(0)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98540" y="2932440"/>
            <a:ext cx="139757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59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Default(1)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73509" y="7169961"/>
            <a:ext cx="8100680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61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Threshold chosen from training out-of-fold predictions; test kept out.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73918" y="8360381"/>
            <a:ext cx="8059752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Training OOF threshold requires </a:t>
            </a:r>
            <a:r>
              <a:rPr lang="en-US" sz="2707" spc="-67" b="true">
                <a:solidFill>
                  <a:srgbClr val="2FA6A6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&gt;2/3</a:t>
            </a: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 Default recall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07698" y="9038119"/>
            <a:ext cx="4681771" cy="47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67" b="true">
                <a:solidFill>
                  <a:srgbClr val="FFFFFF">
                    <a:alpha val="89804"/>
                  </a:srgbClr>
                </a:solidFill>
                <a:latin typeface="Inter Medium"/>
                <a:ea typeface="Inter Medium"/>
                <a:cs typeface="Inter Medium"/>
                <a:sym typeface="Inter Medium"/>
              </a:rPr>
              <a:t>SVM score is not a probability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99730" y="4137307"/>
            <a:ext cx="1203588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59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Good(0)</a:t>
            </a:r>
          </a:p>
        </p:txBody>
      </p:sp>
      <p:sp>
        <p:nvSpPr>
          <p:cNvPr name="TextBox 42" id="42"/>
          <p:cNvSpPr txBox="true"/>
          <p:nvPr/>
        </p:nvSpPr>
        <p:spPr>
          <a:xfrm rot="-5400000">
            <a:off x="6847886" y="4893566"/>
            <a:ext cx="1268203" cy="4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399" spc="-59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ACTUAL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9250" y="490346"/>
            <a:ext cx="11974240" cy="65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200" b="true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Interpretation, Limitations and 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4364182" cy="863627"/>
          </a:xfrm>
          <a:custGeom>
            <a:avLst/>
            <a:gdLst/>
            <a:ahLst/>
            <a:cxnLst/>
            <a:rect r="r" b="b" t="t" l="l"/>
            <a:pathLst>
              <a:path h="863627" w="4364182">
                <a:moveTo>
                  <a:pt x="0" y="0"/>
                </a:moveTo>
                <a:lnTo>
                  <a:pt x="4364182" y="0"/>
                </a:lnTo>
                <a:lnTo>
                  <a:pt x="4364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0461" y="1786371"/>
            <a:ext cx="3562945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KEY TAKEAWAYS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2142670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7757" y="2413711"/>
            <a:ext cx="3277093" cy="30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spc="-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Top features driving predictions</a:t>
            </a:r>
          </a:p>
          <a:p>
            <a:pPr algn="ctr">
              <a:lnSpc>
                <a:spcPts val="2497"/>
              </a:lnSpc>
            </a:pPr>
          </a:p>
          <a:p>
            <a:pPr algn="ctr">
              <a:lnSpc>
                <a:spcPts val="2497"/>
              </a:lnSpc>
            </a:pPr>
            <a:r>
              <a:rPr lang="en-US" b="true" sz="1784" spc="-53">
                <a:solidFill>
                  <a:srgbClr val="33B8B2"/>
                </a:solidFill>
                <a:latin typeface="Inter Medium"/>
                <a:ea typeface="Inter Medium"/>
                <a:cs typeface="Inter Medium"/>
                <a:sym typeface="Inter Medium"/>
              </a:rPr>
              <a:t>checking balance</a:t>
            </a:r>
          </a:p>
          <a:p>
            <a:pPr algn="ctr">
              <a:lnSpc>
                <a:spcPts val="2497"/>
              </a:lnSpc>
            </a:pPr>
            <a:r>
              <a:rPr lang="en-US" b="true" sz="1784" spc="-53">
                <a:solidFill>
                  <a:srgbClr val="33B8B2"/>
                </a:solidFill>
                <a:latin typeface="Inter Medium"/>
                <a:ea typeface="Inter Medium"/>
                <a:cs typeface="Inter Medium"/>
                <a:sym typeface="Inter Medium"/>
              </a:rPr>
              <a:t>months_loan duration</a:t>
            </a:r>
          </a:p>
          <a:p>
            <a:pPr algn="ctr">
              <a:lnSpc>
                <a:spcPts val="2497"/>
              </a:lnSpc>
            </a:pPr>
            <a:r>
              <a:rPr lang="en-US" b="true" sz="1784" spc="-53">
                <a:solidFill>
                  <a:srgbClr val="33B8B2"/>
                </a:solidFill>
                <a:latin typeface="Inter Medium"/>
                <a:ea typeface="Inter Medium"/>
                <a:cs typeface="Inter Medium"/>
                <a:sym typeface="Inter Medium"/>
              </a:rPr>
              <a:t>savings balance</a:t>
            </a:r>
          </a:p>
          <a:p>
            <a:pPr algn="ctr">
              <a:lnSpc>
                <a:spcPts val="2497"/>
              </a:lnSpc>
            </a:pPr>
            <a:r>
              <a:rPr lang="en-US" b="true" sz="1784" spc="-53">
                <a:solidFill>
                  <a:srgbClr val="33B8B2"/>
                </a:solidFill>
                <a:latin typeface="Inter Medium"/>
                <a:ea typeface="Inter Medium"/>
                <a:cs typeface="Inter Medium"/>
                <a:sym typeface="Inter Medium"/>
              </a:rPr>
              <a:t>credit history</a:t>
            </a:r>
          </a:p>
          <a:p>
            <a:pPr algn="ctr">
              <a:lnSpc>
                <a:spcPts val="2497"/>
              </a:lnSpc>
            </a:pPr>
            <a:r>
              <a:rPr lang="en-US" b="true" sz="1784" spc="-53">
                <a:solidFill>
                  <a:srgbClr val="33B8B2"/>
                </a:solidFill>
                <a:latin typeface="Inter Medium"/>
                <a:ea typeface="Inter Medium"/>
                <a:cs typeface="Inter Medium"/>
                <a:sym typeface="Inter Medium"/>
              </a:rPr>
              <a:t>property</a:t>
            </a:r>
          </a:p>
          <a:p>
            <a:pPr algn="ctr">
              <a:lnSpc>
                <a:spcPts val="2497"/>
              </a:lnSpc>
            </a:pPr>
          </a:p>
          <a:p>
            <a:pPr algn="ctr">
              <a:lnSpc>
                <a:spcPts val="2497"/>
              </a:lnSpc>
            </a:pPr>
            <a:r>
              <a:rPr lang="en-US" sz="1784" spc="-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Permutation importance reflects model reliance, </a:t>
            </a:r>
            <a:r>
              <a:rPr lang="en-US" b="true" sz="1784" spc="-53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not causation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79818" y="1497682"/>
            <a:ext cx="4364182" cy="863627"/>
          </a:xfrm>
          <a:custGeom>
            <a:avLst/>
            <a:gdLst/>
            <a:ahLst/>
            <a:cxnLst/>
            <a:rect r="r" b="b" t="t" l="l"/>
            <a:pathLst>
              <a:path h="863627" w="4364182">
                <a:moveTo>
                  <a:pt x="0" y="0"/>
                </a:moveTo>
                <a:lnTo>
                  <a:pt x="4364182" y="0"/>
                </a:lnTo>
                <a:lnTo>
                  <a:pt x="4364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16711" y="1786371"/>
            <a:ext cx="372368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EVALUATION CONTEXT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79818" y="2142670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85281" y="2328611"/>
            <a:ext cx="3143000" cy="352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Earlier diagnostic–not current</a:t>
            </a:r>
          </a:p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SVM evaluation</a:t>
            </a:r>
          </a:p>
          <a:p>
            <a:pPr algn="l">
              <a:lnSpc>
                <a:spcPts val="2608"/>
              </a:lnSpc>
            </a:pPr>
          </a:p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33B8B2"/>
                </a:solidFill>
                <a:latin typeface="Inter"/>
                <a:ea typeface="Inter"/>
                <a:cs typeface="Inter"/>
                <a:sym typeface="Inter"/>
              </a:rPr>
              <a:t>Female n61</a:t>
            </a:r>
          </a:p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recall75.0%, FPR43.3%</a:t>
            </a:r>
          </a:p>
          <a:p>
            <a:pPr algn="l">
              <a:lnSpc>
                <a:spcPts val="2608"/>
              </a:lnSpc>
            </a:pPr>
          </a:p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33B8B2"/>
                </a:solidFill>
                <a:latin typeface="Inter"/>
                <a:ea typeface="Inter"/>
                <a:cs typeface="Inter"/>
                <a:sym typeface="Inter"/>
              </a:rPr>
              <a:t>Male n139</a:t>
            </a:r>
          </a:p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recall80.0%, FPR27.3%</a:t>
            </a:r>
          </a:p>
          <a:p>
            <a:pPr algn="l">
              <a:lnSpc>
                <a:spcPts val="2608"/>
              </a:lnSpc>
            </a:pPr>
          </a:p>
          <a:p>
            <a:pPr algn="l">
              <a:lnSpc>
                <a:spcPts val="2608"/>
              </a:lnSpc>
            </a:pPr>
            <a:r>
              <a:rPr lang="en-US" sz="1863" spc="-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Descriptive only; not proof of fairness or unfairness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1497682"/>
            <a:ext cx="4364182" cy="863627"/>
          </a:xfrm>
          <a:custGeom>
            <a:avLst/>
            <a:gdLst/>
            <a:ahLst/>
            <a:cxnLst/>
            <a:rect r="r" b="b" t="t" l="l"/>
            <a:pathLst>
              <a:path h="863627" w="4364182">
                <a:moveTo>
                  <a:pt x="0" y="0"/>
                </a:moveTo>
                <a:lnTo>
                  <a:pt x="4364182" y="0"/>
                </a:lnTo>
                <a:lnTo>
                  <a:pt x="4364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142670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74824" y="2338407"/>
            <a:ext cx="3529324" cy="362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Small dataset with only1000 applicants and substantial missing data</a:t>
            </a:r>
          </a:p>
          <a:p>
            <a:pPr algn="l">
              <a:lnSpc>
                <a:spcPts val="2497"/>
              </a:lnSpc>
            </a:pPr>
          </a:p>
          <a:p>
            <a:pPr algn="l">
              <a:lnSpc>
                <a:spcPts val="2497"/>
              </a:lnSpc>
            </a:pPr>
            <a:r>
              <a:rPr lang="en-US" sz="1784" spc="-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Unequal subgroup sizes and female-linked missing personal_status constrain interpretation</a:t>
            </a:r>
          </a:p>
          <a:p>
            <a:pPr algn="l">
              <a:lnSpc>
                <a:spcPts val="2497"/>
              </a:lnSpc>
            </a:pPr>
          </a:p>
          <a:p>
            <a:pPr algn="l">
              <a:lnSpc>
                <a:spcPts val="2497"/>
              </a:lnSpc>
            </a:pPr>
            <a:r>
              <a:rPr lang="en-US" sz="1784" spc="-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verified bank-specific cost analysis or real deployment results available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7244" y="1497682"/>
            <a:ext cx="4364182" cy="863627"/>
          </a:xfrm>
          <a:custGeom>
            <a:avLst/>
            <a:gdLst/>
            <a:ahLst/>
            <a:cxnLst/>
            <a:rect r="r" b="b" t="t" l="l"/>
            <a:pathLst>
              <a:path h="863627" w="4364182">
                <a:moveTo>
                  <a:pt x="0" y="0"/>
                </a:moveTo>
                <a:lnTo>
                  <a:pt x="4364182" y="0"/>
                </a:lnTo>
                <a:lnTo>
                  <a:pt x="4364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903523" y="1786371"/>
            <a:ext cx="3562945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CONCLUSION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97244" y="2142670"/>
            <a:ext cx="4364182" cy="4296271"/>
          </a:xfrm>
          <a:custGeom>
            <a:avLst/>
            <a:gdLst/>
            <a:ahLst/>
            <a:cxnLst/>
            <a:rect r="r" b="b" t="t" l="l"/>
            <a:pathLst>
              <a:path h="4296271" w="4364182">
                <a:moveTo>
                  <a:pt x="0" y="0"/>
                </a:moveTo>
                <a:lnTo>
                  <a:pt x="4364182" y="0"/>
                </a:lnTo>
                <a:lnTo>
                  <a:pt x="4364182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869291" y="2328898"/>
            <a:ext cx="3423270" cy="371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spc="-5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Model offers useful academic decision support</a:t>
            </a:r>
          </a:p>
          <a:p>
            <a:pPr algn="l">
              <a:lnSpc>
                <a:spcPts val="2780"/>
              </a:lnSpc>
            </a:pPr>
          </a:p>
          <a:p>
            <a:pPr algn="l">
              <a:lnSpc>
                <a:spcPts val="2780"/>
              </a:lnSpc>
            </a:pPr>
            <a:r>
              <a:rPr lang="en-US" sz="1986" spc="-5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Further validation, fairness review, and business-cost calibration are required</a:t>
            </a:r>
          </a:p>
          <a:p>
            <a:pPr algn="l">
              <a:lnSpc>
                <a:spcPts val="2780"/>
              </a:lnSpc>
            </a:pPr>
          </a:p>
          <a:p>
            <a:pPr algn="l">
              <a:lnSpc>
                <a:spcPts val="2780"/>
              </a:lnSpc>
            </a:pPr>
            <a:r>
              <a:rPr lang="en-US" sz="1986" spc="-5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Human review and ongoing monitoring are essential before operations</a:t>
            </a:r>
          </a:p>
          <a:p>
            <a:pPr algn="l">
              <a:lnSpc>
                <a:spcPts val="2780"/>
              </a:lnSpc>
            </a:pPr>
            <a:r>
              <a:rPr lang="en-US" sz="1986" spc="-59" b="true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O&amp;A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56987" y="6622978"/>
            <a:ext cx="4940347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5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EARLIER DIAGNOSTIC SUBGROUP SUMMARY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26574" y="6854356"/>
            <a:ext cx="8072096" cy="1934962"/>
          </a:xfrm>
          <a:custGeom>
            <a:avLst/>
            <a:gdLst/>
            <a:ahLst/>
            <a:cxnLst/>
            <a:rect r="r" b="b" t="t" l="l"/>
            <a:pathLst>
              <a:path h="1934962" w="8072096">
                <a:moveTo>
                  <a:pt x="0" y="0"/>
                </a:moveTo>
                <a:lnTo>
                  <a:pt x="8072096" y="0"/>
                </a:lnTo>
                <a:lnTo>
                  <a:pt x="807209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325295" y="8294676"/>
            <a:ext cx="499947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70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139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8002" y="7662120"/>
            <a:ext cx="93609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70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75.0%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69331" y="8294676"/>
            <a:ext cx="973442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70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80.0%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48723" y="7662120"/>
            <a:ext cx="965127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70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43.9%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66940" y="8294676"/>
            <a:ext cx="928691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70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27.3%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706488" y="6428009"/>
            <a:ext cx="229694" cy="2361309"/>
          </a:xfrm>
          <a:custGeom>
            <a:avLst/>
            <a:gdLst/>
            <a:ahLst/>
            <a:cxnLst/>
            <a:rect r="r" b="b" t="t" l="l"/>
            <a:pathLst>
              <a:path h="2361309" w="229694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685960" y="6622978"/>
            <a:ext cx="1387138" cy="2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784" spc="-5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NEXT STEPS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144000" y="6854356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347338" y="7403923"/>
            <a:ext cx="1308182" cy="8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more</a:t>
            </a:r>
          </a:p>
          <a:p>
            <a:pPr algn="ctr">
              <a:lnSpc>
                <a:spcPts val="2165"/>
              </a:lnSpc>
            </a:pPr>
            <a:r>
              <a:rPr lang="en-US" sz="1546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representative</a:t>
            </a:r>
          </a:p>
          <a:p>
            <a:pPr algn="ctr">
              <a:lnSpc>
                <a:spcPts val="2165"/>
              </a:lnSpc>
            </a:pPr>
            <a:r>
              <a:rPr lang="en-US" sz="1546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320622" y="6854356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843555" y="7549618"/>
            <a:ext cx="919179" cy="55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4"/>
              </a:lnSpc>
            </a:pPr>
            <a:r>
              <a:rPr lang="en-US" sz="1696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External</a:t>
            </a:r>
          </a:p>
          <a:p>
            <a:pPr algn="ctr">
              <a:lnSpc>
                <a:spcPts val="2374"/>
              </a:lnSpc>
            </a:pPr>
            <a:r>
              <a:rPr lang="en-US" sz="1696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497244" y="6854356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953945" y="7403923"/>
            <a:ext cx="1149670" cy="80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Independent</a:t>
            </a:r>
          </a:p>
          <a:p>
            <a:pPr algn="ctr">
              <a:lnSpc>
                <a:spcPts val="2165"/>
              </a:lnSpc>
            </a:pPr>
            <a:r>
              <a:rPr lang="en-US" sz="1546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fairness</a:t>
            </a:r>
          </a:p>
          <a:p>
            <a:pPr algn="ctr">
              <a:lnSpc>
                <a:spcPts val="2165"/>
              </a:lnSpc>
            </a:pPr>
            <a:r>
              <a:rPr lang="en-US" sz="1546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892622" y="6854356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041110" y="7278522"/>
            <a:ext cx="1471617" cy="112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4"/>
              </a:lnSpc>
            </a:pPr>
            <a:r>
              <a:rPr lang="en-US" sz="1696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Business-cost thresholds with monitored</a:t>
            </a:r>
          </a:p>
          <a:p>
            <a:pPr algn="ctr">
              <a:lnSpc>
                <a:spcPts val="2374"/>
              </a:lnSpc>
            </a:pPr>
            <a:r>
              <a:rPr lang="en-US" sz="1696" spc="-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review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883110" y="7707051"/>
            <a:ext cx="656268" cy="229572"/>
          </a:xfrm>
          <a:custGeom>
            <a:avLst/>
            <a:gdLst/>
            <a:ahLst/>
            <a:cxnLst/>
            <a:rect r="r" b="b" t="t" l="l"/>
            <a:pathLst>
              <a:path h="229572" w="656268">
                <a:moveTo>
                  <a:pt x="0" y="0"/>
                </a:moveTo>
                <a:lnTo>
                  <a:pt x="656268" y="0"/>
                </a:lnTo>
                <a:lnTo>
                  <a:pt x="65626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059732" y="7707051"/>
            <a:ext cx="656268" cy="229572"/>
          </a:xfrm>
          <a:custGeom>
            <a:avLst/>
            <a:gdLst/>
            <a:ahLst/>
            <a:cxnLst/>
            <a:rect r="r" b="b" t="t" l="l"/>
            <a:pathLst>
              <a:path h="229572" w="656268">
                <a:moveTo>
                  <a:pt x="0" y="0"/>
                </a:moveTo>
                <a:lnTo>
                  <a:pt x="656268" y="0"/>
                </a:lnTo>
                <a:lnTo>
                  <a:pt x="65626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5455110" y="7707051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26574" y="8997026"/>
            <a:ext cx="17434852" cy="1082267"/>
          </a:xfrm>
          <a:custGeom>
            <a:avLst/>
            <a:gdLst/>
            <a:ahLst/>
            <a:cxnLst/>
            <a:rect r="r" b="b" t="t" l="l"/>
            <a:pathLst>
              <a:path h="1082267" w="17434852">
                <a:moveTo>
                  <a:pt x="0" y="0"/>
                </a:moveTo>
                <a:lnTo>
                  <a:pt x="17434852" y="0"/>
                </a:lnTo>
                <a:lnTo>
                  <a:pt x="1743485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875120" y="9196642"/>
            <a:ext cx="14187715" cy="66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1986" spc="-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Dataset only1000 with substantial missingsness. No bank-specific cost analysis, savings, or real deployment results available.</a:t>
            </a:r>
          </a:p>
          <a:p>
            <a:pPr algn="ctr">
              <a:lnSpc>
                <a:spcPts val="2780"/>
              </a:lnSpc>
            </a:pPr>
            <a:r>
              <a:rPr lang="en-US" sz="1986" spc="-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review and monitoring required before operations.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10117" y="1786371"/>
            <a:ext cx="372368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LIMITATIONS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9108" y="7095512"/>
            <a:ext cx="1135288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57" b="true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Subgroup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30461" y="7675160"/>
            <a:ext cx="1768078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-65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Female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11173" y="7095512"/>
            <a:ext cx="689756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Recall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0461" y="8307715"/>
            <a:ext cx="1768078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-65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Male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203605" y="7095512"/>
            <a:ext cx="455361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FPR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419706" y="7662120"/>
            <a:ext cx="311124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70">
                <a:solidFill>
                  <a:srgbClr val="33B8B2"/>
                </a:solidFill>
                <a:latin typeface="Inter Bold"/>
                <a:ea typeface="Inter Bold"/>
                <a:cs typeface="Inter Bold"/>
                <a:sym typeface="Inter Bold"/>
              </a:rPr>
              <a:t>61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02196" y="7095512"/>
            <a:ext cx="146144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57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DAHYkULQB8g</dc:identifier>
  <dcterms:modified xsi:type="dcterms:W3CDTF">2011-08-01T06:04:30Z</dcterms:modified>
  <cp:revision>1</cp:revision>
  <dc:title>Credit Risk Analysis</dc:title>
</cp:coreProperties>
</file>